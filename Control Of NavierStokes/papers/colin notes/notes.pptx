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42A9-7D3F-4E41-9F87-E5DC13840666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1B514-1E0A-4BBA-B6D3-94C3BF84D6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3021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42A9-7D3F-4E41-9F87-E5DC13840666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1B514-1E0A-4BBA-B6D3-94C3BF84D6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178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42A9-7D3F-4E41-9F87-E5DC13840666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1B514-1E0A-4BBA-B6D3-94C3BF84D6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950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42A9-7D3F-4E41-9F87-E5DC13840666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1B514-1E0A-4BBA-B6D3-94C3BF84D6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1244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42A9-7D3F-4E41-9F87-E5DC13840666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1B514-1E0A-4BBA-B6D3-94C3BF84D6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96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42A9-7D3F-4E41-9F87-E5DC13840666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1B514-1E0A-4BBA-B6D3-94C3BF84D6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635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42A9-7D3F-4E41-9F87-E5DC13840666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1B514-1E0A-4BBA-B6D3-94C3BF84D6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216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42A9-7D3F-4E41-9F87-E5DC13840666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1B514-1E0A-4BBA-B6D3-94C3BF84D6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319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42A9-7D3F-4E41-9F87-E5DC13840666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1B514-1E0A-4BBA-B6D3-94C3BF84D6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894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42A9-7D3F-4E41-9F87-E5DC13840666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1B514-1E0A-4BBA-B6D3-94C3BF84D6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0660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E42A9-7D3F-4E41-9F87-E5DC13840666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1B514-1E0A-4BBA-B6D3-94C3BF84D6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1051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42A9-7D3F-4E41-9F87-E5DC13840666}" type="datetimeFigureOut">
              <a:rPr lang="fr-FR" smtClean="0"/>
              <a:t>28/01/2026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1B514-1E0A-4BBA-B6D3-94C3BF84D6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649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/>
              <p:cNvSpPr txBox="1"/>
              <p:nvPr/>
            </p:nvSpPr>
            <p:spPr>
              <a:xfrm>
                <a:off x="409303" y="470263"/>
                <a:ext cx="12645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GL (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≻0</m:t>
                    </m:r>
                  </m:oMath>
                </a14:m>
                <a:r>
                  <a:rPr lang="fr-FR" dirty="0" smtClean="0"/>
                  <a:t>):</a:t>
                </a:r>
                <a:endParaRPr lang="fr-FR" dirty="0"/>
              </a:p>
            </p:txBody>
          </p:sp>
        </mc:Choice>
        <mc:Fallback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03" y="470263"/>
                <a:ext cx="1264513" cy="369332"/>
              </a:xfrm>
              <a:prstGeom prst="rect">
                <a:avLst/>
              </a:prstGeom>
              <a:blipFill>
                <a:blip r:embed="rId2"/>
                <a:stretch>
                  <a:fillRect l="-3846" t="-8197" r="-3365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1714241" y="391940"/>
                <a:ext cx="2901115" cy="13099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𝐸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m:rPr>
                          <m:aln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𝐴𝑞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𝐵𝑢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−1/2</m:t>
                                  </m:r>
                                </m:sup>
                              </m:s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m:rPr>
                                  <m:nor/>
                                </m:rPr>
                                <a:rPr lang="fr-FR" b="0" dirty="0" smtClean="0"/>
                                <m:t> </m:t>
                              </m:r>
                            </m:e>
                          </m:groupChr>
                        </m:e>
                        <m:li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lim>
                      </m:limLow>
                    </m:oMath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𝐶𝑞</m:t>
                      </m:r>
                    </m:oMath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aln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241" y="391940"/>
                <a:ext cx="2901115" cy="1309974"/>
              </a:xfrm>
              <a:prstGeom prst="rect">
                <a:avLst/>
              </a:prstGeom>
              <a:blipFill>
                <a:blip r:embed="rId3"/>
                <a:stretch>
                  <a:fillRect b="-13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6220330" y="400649"/>
                <a:ext cx="1697260" cy="8953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m:rPr>
                          <m:aln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𝑀𝑦</m:t>
                      </m:r>
                    </m:oMath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m:rPr>
                          <m:aln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𝑁𝑥</m:t>
                      </m:r>
                    </m:oMath>
                  </m:oMathPara>
                </a14:m>
                <a:r>
                  <a:rPr lang="fr-FR" b="0" dirty="0" smtClean="0"/>
                  <a:t/>
                </a:r>
                <a:br>
                  <a:rPr lang="fr-FR" b="0" dirty="0" smtClean="0"/>
                </a:br>
                <a:endParaRPr lang="fr-FR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330" y="400649"/>
                <a:ext cx="1697260" cy="8953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/>
          <p:cNvSpPr txBox="1"/>
          <p:nvPr/>
        </p:nvSpPr>
        <p:spPr>
          <a:xfrm>
            <a:off x="4962678" y="478972"/>
            <a:ext cx="1257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Contrôleur: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330178" y="3224356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Closed</a:t>
            </a:r>
            <a:r>
              <a:rPr lang="fr-FR" dirty="0" smtClean="0"/>
              <a:t> </a:t>
            </a:r>
            <a:r>
              <a:rPr lang="fr-FR" dirty="0" err="1" smtClean="0"/>
              <a:t>loop</a:t>
            </a:r>
            <a:r>
              <a:rPr lang="fr-FR" dirty="0" smtClean="0"/>
              <a:t>:</a:t>
            </a:r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/>
              <p:cNvSpPr txBox="1"/>
              <p:nvPr/>
            </p:nvSpPr>
            <p:spPr>
              <a:xfrm>
                <a:off x="2399889" y="3019713"/>
                <a:ext cx="4020075" cy="13448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fr-F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𝑐𝑙</m:t>
                              </m:r>
                            </m:sup>
                          </m:sSup>
                        </m:lim>
                      </m:limLow>
                      <m:d>
                        <m:dPr>
                          <m:begChr m:val="["/>
                          <m:endChr m:val="]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m:rPr>
                          <m:aln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fr-F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𝐵𝑁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𝑀𝐶</m:t>
                                        </m:r>
                                      </m:e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𝑐𝑙</m:t>
                              </m:r>
                            </m:sup>
                          </m:sSup>
                        </m:lim>
                      </m:limLow>
                      <m:d>
                        <m:dPr>
                          <m:begChr m:val="["/>
                          <m:endChr m:val="]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eqAr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1/2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  <m:m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𝑐𝑙</m:t>
                              </m:r>
                            </m:sup>
                          </m:sSup>
                        </m:lim>
                      </m:limLow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aln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/2</m:t>
                                            </m:r>
                                          </m:sup>
                                        </m:sSup>
                                      </m:e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𝑐𝑙</m:t>
                              </m:r>
                            </m:sup>
                          </m:sSup>
                        </m:lim>
                      </m:limLow>
                      <m:d>
                        <m:dPr>
                          <m:begChr m:val="["/>
                          <m:endChr m:val="]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889" y="3019713"/>
                <a:ext cx="4020075" cy="1344855"/>
              </a:xfrm>
              <a:prstGeom prst="rect">
                <a:avLst/>
              </a:prstGeom>
              <a:blipFill>
                <a:blip r:embed="rId5"/>
                <a:stretch>
                  <a:fillRect b="-31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/>
              <p:cNvSpPr txBox="1"/>
              <p:nvPr/>
            </p:nvSpPr>
            <p:spPr>
              <a:xfrm>
                <a:off x="250883" y="1649253"/>
                <a:ext cx="11463597" cy="1221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Scalings of input w/output z </a:t>
                </a:r>
                <a:r>
                  <a:rPr lang="fr-FR" dirty="0" err="1" smtClean="0"/>
                  <a:t>chosen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such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that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𝑧𝑤</m:t>
                            </m:r>
                          </m:sub>
                        </m:sSub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d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</m:d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represents</a:t>
                </a:r>
                <a:r>
                  <a:rPr lang="fr-FR" dirty="0" smtClean="0"/>
                  <a:t> the L</a:t>
                </a:r>
                <a:r>
                  <a:rPr lang="fr-FR" baseline="-25000" dirty="0" smtClean="0"/>
                  <a:t>2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energy</a:t>
                </a:r>
                <a:r>
                  <a:rPr lang="fr-FR" dirty="0" smtClean="0"/>
                  <a:t> gain of the </a:t>
                </a:r>
                <a:r>
                  <a:rPr lang="fr-FR" dirty="0" err="1" smtClean="0"/>
                  <a:t>continuous</a:t>
                </a:r>
                <a:r>
                  <a:rPr lang="fr-FR" dirty="0" smtClean="0"/>
                  <a:t> variables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acc>
                              </m:e>
                            </m:d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</m:e>
                            </m:d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fr-FR" b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fr-FR" b="0" i="0" smtClean="0">
                                            <a:latin typeface="Cambria Math" panose="02040503050406030204" pitchFamily="18" charset="0"/>
                                          </a:rPr>
                                          <m:t>q</m:t>
                                        </m:r>
                                      </m:e>
                                    </m:acc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num>
                      <m:den>
                        <m:nary>
                          <m:nary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fr-FR" b="0" i="0" smtClean="0">
                                            <a:latin typeface="Cambria Math" panose="02040503050406030204" pitchFamily="18" charset="0"/>
                                          </a:rPr>
                                          <m:t>f</m:t>
                                        </m:r>
                                      </m:e>
                                    </m:acc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den>
                    </m:f>
                  </m:oMath>
                </a14:m>
                <a:r>
                  <a:rPr lang="fr-FR" dirty="0" smtClean="0"/>
                  <a:t>. </a:t>
                </a:r>
                <a:endParaRPr lang="fr-FR" dirty="0"/>
              </a:p>
            </p:txBody>
          </p:sp>
        </mc:Choice>
        <mc:Fallback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83" y="1649253"/>
                <a:ext cx="11463597" cy="1221809"/>
              </a:xfrm>
              <a:prstGeom prst="rect">
                <a:avLst/>
              </a:prstGeom>
              <a:blipFill>
                <a:blip r:embed="rId6"/>
                <a:stretch>
                  <a:fillRect l="-4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4"/>
              <p:cNvSpPr txBox="1"/>
              <p:nvPr/>
            </p:nvSpPr>
            <p:spPr>
              <a:xfrm>
                <a:off x="304905" y="4296708"/>
                <a:ext cx="7286867" cy="10926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Skew-Hamiltonian/</a:t>
                </a:r>
                <a:r>
                  <a:rPr lang="fr-FR" dirty="0" err="1" smtClean="0"/>
                  <a:t>Hamiltonian</a:t>
                </a:r>
                <a:r>
                  <a:rPr lang="fr-FR" dirty="0" smtClean="0"/>
                  <a:t> matrix </a:t>
                </a:r>
                <a:r>
                  <a:rPr lang="fr-FR" dirty="0" err="1" smtClean="0"/>
                  <a:t>pencil</a:t>
                </a:r>
                <a:r>
                  <a:rPr lang="fr-FR" dirty="0" smtClean="0"/>
                  <a:t> (for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𝑐𝑙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FR" dirty="0" smtClean="0"/>
                  <a:t>):</a:t>
                </a:r>
              </a:p>
              <a:p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𝑠𝑁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with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𝑐𝑙</m:t>
                                  </m:r>
                                </m:sup>
                              </m:sSup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𝑐𝑙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lang="fr-FR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p>
                              </m:sSup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𝑐𝑙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𝑐𝑙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𝑐𝑙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𝑐𝑙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𝑐𝑙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05" y="4296708"/>
                <a:ext cx="7286867" cy="1092671"/>
              </a:xfrm>
              <a:prstGeom prst="rect">
                <a:avLst/>
              </a:prstGeom>
              <a:blipFill>
                <a:blip r:embed="rId7"/>
                <a:stretch>
                  <a:fillRect l="-669" t="-279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/>
              <p:cNvSpPr/>
              <p:nvPr/>
            </p:nvSpPr>
            <p:spPr>
              <a:xfrm>
                <a:off x="780027" y="5515994"/>
                <a:ext cx="8365302" cy="11497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𝑠𝑁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𝑐𝑙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𝑐𝑙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𝑐𝑙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𝑐𝑙</m:t>
                                    </m:r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𝑐𝑙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𝑠𝐸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𝐵𝑁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𝑀𝐶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𝑠𝐼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𝑠𝐸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𝑠𝐼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27" y="5515994"/>
                <a:ext cx="8365302" cy="11497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ZoneTexte 16"/>
          <p:cNvSpPr txBox="1"/>
          <p:nvPr/>
        </p:nvSpPr>
        <p:spPr>
          <a:xfrm>
            <a:off x="9318172" y="5826034"/>
            <a:ext cx="2629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s</a:t>
            </a:r>
            <a:r>
              <a:rPr lang="fr-FR" dirty="0" err="1" smtClean="0"/>
              <a:t>parse</a:t>
            </a:r>
            <a:r>
              <a:rPr lang="fr-FR" dirty="0" smtClean="0"/>
              <a:t> + </a:t>
            </a:r>
            <a:r>
              <a:rPr lang="fr-FR" dirty="0" err="1" smtClean="0"/>
              <a:t>low</a:t>
            </a:r>
            <a:r>
              <a:rPr lang="fr-FR" dirty="0" smtClean="0"/>
              <a:t> </a:t>
            </a:r>
            <a:r>
              <a:rPr lang="fr-FR" dirty="0" err="1" smtClean="0"/>
              <a:t>rank</a:t>
            </a:r>
            <a:r>
              <a:rPr lang="fr-FR" dirty="0" smtClean="0"/>
              <a:t> </a:t>
            </a:r>
            <a:r>
              <a:rPr lang="fr-FR" dirty="0" smtClean="0">
                <a:sym typeface="Wingdings" panose="05000000000000000000" pitchFamily="2" charset="2"/>
              </a:rPr>
              <a:t> </a:t>
            </a:r>
            <a:r>
              <a:rPr lang="fr-FR" dirty="0" err="1" smtClean="0">
                <a:sym typeface="Wingdings" panose="05000000000000000000" pitchFamily="2" charset="2"/>
              </a:rPr>
              <a:t>see</a:t>
            </a:r>
            <a:r>
              <a:rPr lang="fr-FR" dirty="0" smtClean="0">
                <a:sym typeface="Wingdings" panose="05000000000000000000" pitchFamily="2" charset="2"/>
              </a:rPr>
              <a:t> </a:t>
            </a:r>
            <a:r>
              <a:rPr lang="fr-FR" dirty="0" err="1" smtClean="0">
                <a:sym typeface="Wingdings" panose="05000000000000000000" pitchFamily="2" charset="2"/>
              </a:rPr>
              <a:t>next</a:t>
            </a:r>
            <a:r>
              <a:rPr lang="fr-FR" dirty="0" smtClean="0">
                <a:sym typeface="Wingdings" panose="05000000000000000000" pitchFamily="2" charset="2"/>
              </a:rPr>
              <a:t> slide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8011886" y="385616"/>
            <a:ext cx="39362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I </a:t>
            </a:r>
            <a:r>
              <a:rPr lang="fr-FR" dirty="0" err="1" smtClean="0"/>
              <a:t>believe</a:t>
            </a:r>
            <a:r>
              <a:rPr lang="fr-FR" dirty="0" smtClean="0"/>
              <a:t> </a:t>
            </a:r>
            <a:r>
              <a:rPr lang="fr-FR" dirty="0" err="1" smtClean="0"/>
              <a:t>Apkarian</a:t>
            </a:r>
            <a:r>
              <a:rPr lang="fr-FR" dirty="0" smtClean="0"/>
              <a:t> </a:t>
            </a:r>
            <a:r>
              <a:rPr lang="fr-FR" dirty="0" err="1" smtClean="0"/>
              <a:t>takes</a:t>
            </a:r>
            <a:r>
              <a:rPr lang="fr-FR" dirty="0" smtClean="0"/>
              <a:t> L </a:t>
            </a:r>
            <a:r>
              <a:rPr lang="fr-FR" dirty="0" err="1" smtClean="0"/>
              <a:t>tridiagonal</a:t>
            </a:r>
            <a:r>
              <a:rPr lang="fr-FR" dirty="0" smtClean="0"/>
              <a:t>,</a:t>
            </a:r>
          </a:p>
          <a:p>
            <a:r>
              <a:rPr lang="fr-FR" dirty="0" smtClean="0"/>
              <a:t>but if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not </a:t>
            </a:r>
            <a:r>
              <a:rPr lang="fr-FR" dirty="0" err="1" smtClean="0"/>
              <a:t>general</a:t>
            </a:r>
            <a:r>
              <a:rPr lang="fr-FR" dirty="0" smtClean="0"/>
              <a:t> </a:t>
            </a:r>
            <a:r>
              <a:rPr lang="fr-FR" dirty="0" err="1" smtClean="0"/>
              <a:t>enough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could</a:t>
            </a:r>
            <a:r>
              <a:rPr lang="fr-FR" dirty="0" smtClean="0"/>
              <a:t> </a:t>
            </a:r>
            <a:r>
              <a:rPr lang="fr-FR" dirty="0" err="1" smtClean="0"/>
              <a:t>parametrize</a:t>
            </a:r>
            <a:r>
              <a:rPr lang="fr-FR" dirty="0" smtClean="0"/>
              <a:t> (L,M,N) in canonical </a:t>
            </a:r>
            <a:r>
              <a:rPr lang="fr-FR" dirty="0" err="1" smtClean="0"/>
              <a:t>observability</a:t>
            </a:r>
            <a:r>
              <a:rPr lang="fr-FR" dirty="0" smtClean="0"/>
              <a:t>/</a:t>
            </a:r>
            <a:r>
              <a:rPr lang="fr-FR" dirty="0" err="1" smtClean="0"/>
              <a:t>controllability</a:t>
            </a:r>
            <a:r>
              <a:rPr lang="fr-FR" dirty="0" smtClean="0"/>
              <a:t> </a:t>
            </a:r>
            <a:r>
              <a:rPr lang="fr-FR" dirty="0" err="1" smtClean="0"/>
              <a:t>form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661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318473" y="351811"/>
                <a:ext cx="9353651" cy="24382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𝑠𝑁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m:rPr>
                          <m:aln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𝑠𝐸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𝐵𝑁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𝑀𝐶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𝑠𝐼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𝑠𝐸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brk m:alnAt="7"/>
                                            </m:r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𝑠𝐼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p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fr-F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𝑠𝐼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𝛾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p>
                                              </m:sSup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𝐸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p>
                                              </m:sSup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𝛾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𝑠𝐼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𝐿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sparse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lim>
                      </m:limLow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fr-F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𝐵𝑁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𝑀𝐶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</m:mr>
                                          <m:m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𝐵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low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rank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fr-FR" b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almost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sparse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fact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d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lim>
                      </m:limLow>
                    </m:oMath>
                  </m:oMathPara>
                </a14:m>
                <a:r>
                  <a:rPr lang="fr-FR" b="0" dirty="0" smtClean="0"/>
                  <a:t/>
                </a:r>
                <a:br>
                  <a:rPr lang="fr-FR" b="0" dirty="0" smtClean="0"/>
                </a:br>
                <a:endParaRPr lang="fr-FR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73" y="351811"/>
                <a:ext cx="9353651" cy="24382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591230" y="3203524"/>
                <a:ext cx="4700005" cy="13779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fr-F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sparse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!)</m:t>
                          </m:r>
                        </m:lim>
                      </m:limLow>
                      <m:limLow>
                        <m:limLow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fr-F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</m:mr>
                                          <m:m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𝐵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sparse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!)</m:t>
                          </m:r>
                        </m:lim>
                      </m:limLow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30" y="3203524"/>
                <a:ext cx="4700005" cy="1377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838808" y="4792077"/>
                <a:ext cx="4977966" cy="7423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𝑠𝑁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aln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𝑈𝑉</m:t>
                              </m:r>
                            </m:e>
                          </m:d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08" y="4792077"/>
                <a:ext cx="4977966" cy="742383"/>
              </a:xfrm>
              <a:prstGeom prst="rect">
                <a:avLst/>
              </a:prstGeom>
              <a:blipFill>
                <a:blip r:embed="rId4"/>
                <a:stretch>
                  <a:fillRect r="-116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/>
          <p:cNvSpPr txBox="1"/>
          <p:nvPr/>
        </p:nvSpPr>
        <p:spPr>
          <a:xfrm>
            <a:off x="7271657" y="5168270"/>
            <a:ext cx="2229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(</a:t>
            </a:r>
            <a:r>
              <a:rPr lang="fr-FR" dirty="0" err="1" smtClean="0"/>
              <a:t>Woodbury’s</a:t>
            </a:r>
            <a:r>
              <a:rPr lang="fr-FR" dirty="0" smtClean="0"/>
              <a:t> </a:t>
            </a:r>
            <a:r>
              <a:rPr lang="fr-FR" dirty="0" err="1" smtClean="0"/>
              <a:t>identity</a:t>
            </a:r>
            <a:r>
              <a:rPr lang="fr-FR" dirty="0" smtClean="0"/>
              <a:t>)</a:t>
            </a:r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6395359" y="3237062"/>
                <a:ext cx="46384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dirty="0" err="1"/>
                  <a:t>i</a:t>
                </a:r>
                <a:r>
                  <a:rPr lang="fr-FR" b="0" dirty="0" err="1" smtClean="0"/>
                  <a:t>s</a:t>
                </a:r>
                <a:r>
                  <a:rPr lang="fr-FR" b="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sparse</a:t>
                </a:r>
                <a:r>
                  <a:rPr lang="fr-FR" dirty="0" smtClean="0"/>
                  <a:t>… I </a:t>
                </a:r>
                <a:r>
                  <a:rPr lang="fr-FR" dirty="0" err="1" smtClean="0"/>
                  <a:t>don’t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think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so</a:t>
                </a:r>
                <a:r>
                  <a:rPr lang="fr-FR" dirty="0" smtClean="0"/>
                  <a:t> </a:t>
                </a:r>
                <a:r>
                  <a:rPr lang="fr-FR" dirty="0" smtClean="0">
                    <a:sym typeface="Wingdings" panose="05000000000000000000" pitchFamily="2" charset="2"/>
                  </a:rPr>
                  <a:t> </a:t>
                </a:r>
                <a:r>
                  <a:rPr lang="fr-FR" dirty="0" err="1" smtClean="0">
                    <a:sym typeface="Wingdings" panose="05000000000000000000" pitchFamily="2" charset="2"/>
                  </a:rPr>
                  <a:t>see</a:t>
                </a:r>
                <a:r>
                  <a:rPr lang="fr-FR" dirty="0" smtClean="0">
                    <a:sym typeface="Wingdings" panose="05000000000000000000" pitchFamily="2" charset="2"/>
                  </a:rPr>
                  <a:t> </a:t>
                </a:r>
                <a:r>
                  <a:rPr lang="fr-FR" dirty="0" err="1" smtClean="0">
                    <a:sym typeface="Wingdings" panose="05000000000000000000" pitchFamily="2" charset="2"/>
                  </a:rPr>
                  <a:t>next</a:t>
                </a:r>
                <a:r>
                  <a:rPr lang="fr-FR" dirty="0" smtClean="0">
                    <a:sym typeface="Wingdings" panose="05000000000000000000" pitchFamily="2" charset="2"/>
                  </a:rPr>
                  <a:t> slide</a:t>
                </a:r>
                <a:endParaRPr lang="fr-FR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359" y="3237062"/>
                <a:ext cx="4638449" cy="369332"/>
              </a:xfrm>
              <a:prstGeom prst="rect">
                <a:avLst/>
              </a:prstGeom>
              <a:blipFill>
                <a:blip r:embed="rId5"/>
                <a:stretch>
                  <a:fillRect l="-1051" t="-9836" r="-394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935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60319" y="293565"/>
                <a:ext cx="8115107" cy="4112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is</a:t>
                </a:r>
                <a:r>
                  <a:rPr lang="fr-FR" dirty="0" smtClean="0"/>
                  <a:t> not </a:t>
                </a:r>
                <a:r>
                  <a:rPr lang="fr-FR" dirty="0" err="1" smtClean="0"/>
                  <a:t>sparse</a:t>
                </a:r>
                <a:r>
                  <a:rPr lang="fr-FR" dirty="0" smtClean="0"/>
                  <a:t>, but </a:t>
                </a:r>
                <a:r>
                  <a:rPr lang="fr-FR" dirty="0" err="1" smtClean="0"/>
                  <a:t>we</a:t>
                </a:r>
                <a:r>
                  <a:rPr lang="fr-FR" dirty="0" smtClean="0"/>
                  <a:t> are </a:t>
                </a:r>
                <a:r>
                  <a:rPr lang="fr-FR" dirty="0" err="1" smtClean="0"/>
                  <a:t>interested</a:t>
                </a:r>
                <a:r>
                  <a:rPr lang="fr-FR" dirty="0" smtClean="0"/>
                  <a:t> in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such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that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𝑠𝑁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FR" dirty="0" smtClean="0"/>
                  <a:t>. </a:t>
                </a:r>
                <a:r>
                  <a:rPr lang="fr-FR" dirty="0" err="1" smtClean="0"/>
                  <a:t>Introduce</a:t>
                </a:r>
                <a:endParaRPr lang="fr-FR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19" y="293565"/>
                <a:ext cx="8115107" cy="411266"/>
              </a:xfrm>
              <a:prstGeom prst="rect">
                <a:avLst/>
              </a:prstGeom>
              <a:blipFill>
                <a:blip r:embed="rId2"/>
                <a:stretch>
                  <a:fillRect t="-1471" b="-176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4417872" y="823540"/>
                <a:ext cx="2546403" cy="1112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≻0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872" y="823540"/>
                <a:ext cx="2546403" cy="11128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206817" y="2055054"/>
                <a:ext cx="6968511" cy="5068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𝑠𝑁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unc>
                        <m:func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𝑠𝑁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sub>
                              </m:sSub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fun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⇔</m:t>
                      </m:r>
                      <m:func>
                        <m:func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𝑠𝑁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817" y="2055054"/>
                <a:ext cx="6968511" cy="5068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/>
              <p:cNvSpPr txBox="1"/>
              <p:nvPr/>
            </p:nvSpPr>
            <p:spPr>
              <a:xfrm>
                <a:off x="566057" y="2847703"/>
                <a:ext cx="9121280" cy="19544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So </a:t>
                </a:r>
                <a:r>
                  <a:rPr lang="fr-FR" dirty="0" err="1" smtClean="0"/>
                  <a:t>we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may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consider</a:t>
                </a:r>
                <a:r>
                  <a:rPr lang="fr-FR" dirty="0" smtClean="0"/>
                  <a:t> the </a:t>
                </a:r>
                <a:r>
                  <a:rPr lang="fr-FR" dirty="0" err="1" smtClean="0"/>
                  <a:t>pencil</a:t>
                </a:r>
                <a:endParaRPr lang="fr-FR" dirty="0" smtClean="0"/>
              </a:p>
              <a:p>
                <a:endParaRPr lang="fr-FR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𝑠𝐺𝑁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𝐺𝑀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fr-F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𝐸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𝑠𝐼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𝛾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𝛾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𝑠𝐼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𝐿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sparse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lim>
                      </m:limLow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fr-F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𝐵𝑁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𝑀𝐶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</m:mr>
                                          <m:m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𝐵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low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rank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almost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sparse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fact</m:t>
                              </m:r>
                            </m:e>
                          </m:d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lim>
                      </m:limLow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57" y="2847703"/>
                <a:ext cx="9121280" cy="1954446"/>
              </a:xfrm>
              <a:prstGeom prst="rect">
                <a:avLst/>
              </a:prstGeom>
              <a:blipFill>
                <a:blip r:embed="rId5"/>
                <a:stretch>
                  <a:fillRect l="-602" t="-15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227734" y="5087928"/>
                <a:ext cx="4988545" cy="13779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𝐺𝐹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fr-F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𝐸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𝐶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sparse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!)</m:t>
                          </m:r>
                        </m:lim>
                      </m:limLow>
                      <m:limLow>
                        <m:limLow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fr-F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</m:mr>
                                          <m:m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𝐵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fr-F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</m:e>
                                            <m:e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sparse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!)</m:t>
                          </m:r>
                        </m:lim>
                      </m:limLow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34" y="5087928"/>
                <a:ext cx="4988545" cy="13779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5785747" y="5311514"/>
                <a:ext cx="6600461" cy="4653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𝑠𝐺𝑁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𝐺𝑀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′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747" y="5311514"/>
                <a:ext cx="6600461" cy="465384"/>
              </a:xfrm>
              <a:prstGeom prst="rect">
                <a:avLst/>
              </a:prstGeom>
              <a:blipFill>
                <a:blip r:embed="rId7"/>
                <a:stretch>
                  <a:fillRect b="-64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147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/>
              <p:cNvSpPr txBox="1"/>
              <p:nvPr/>
            </p:nvSpPr>
            <p:spPr>
              <a:xfrm>
                <a:off x="619760" y="365760"/>
                <a:ext cx="7592912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Solve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𝑆𝑥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using</a:t>
                </a:r>
                <a:r>
                  <a:rPr lang="fr-FR" dirty="0" smtClean="0"/>
                  <a:t> LU </a:t>
                </a:r>
                <a:r>
                  <a:rPr lang="fr-FR" dirty="0" err="1" smtClean="0"/>
                  <a:t>decomposition</a:t>
                </a:r>
                <a:r>
                  <a:rPr lang="fr-FR" dirty="0" smtClean="0"/>
                  <a:t> of </a:t>
                </a:r>
                <a:r>
                  <a:rPr lang="fr-FR" dirty="0" err="1" smtClean="0"/>
                  <a:t>sparse</a:t>
                </a:r>
                <a:r>
                  <a:rPr lang="fr-FR" dirty="0" smtClean="0"/>
                  <a:t> matrix S </a:t>
                </a:r>
                <a:r>
                  <a:rPr lang="fr-FR" dirty="0" err="1" smtClean="0"/>
                  <a:t>with</a:t>
                </a:r>
                <a:r>
                  <a:rPr lang="fr-FR" dirty="0" smtClean="0"/>
                  <a:t> MUMPS </a:t>
                </a:r>
                <a:r>
                  <a:rPr lang="fr-FR" dirty="0" err="1" smtClean="0"/>
                  <a:t>library</a:t>
                </a:r>
                <a:r>
                  <a:rPr lang="fr-FR" dirty="0" smtClean="0"/>
                  <a:t>.</a:t>
                </a:r>
              </a:p>
              <a:p>
                <a:endParaRPr lang="fr-FR" dirty="0"/>
              </a:p>
              <a:p>
                <a:r>
                  <a:rPr lang="fr-FR" dirty="0" err="1" smtClean="0"/>
                  <a:t>We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want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purely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imaginary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eigenvalues</a:t>
                </a:r>
                <a:r>
                  <a:rPr lang="fr-FR" dirty="0" smtClean="0"/>
                  <a:t> s of the </a:t>
                </a:r>
                <a:r>
                  <a:rPr lang="fr-FR" dirty="0" err="1" smtClean="0"/>
                  <a:t>generalized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eigenvalue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problem</a:t>
                </a:r>
                <a:endParaRPr lang="fr-FR" dirty="0" smtClean="0"/>
              </a:p>
              <a:p>
                <a:endParaRPr lang="fr-FR" dirty="0"/>
              </a:p>
              <a:p>
                <a:endParaRPr lang="fr-FR" dirty="0" smtClean="0"/>
              </a:p>
              <a:p>
                <a:r>
                  <a:rPr lang="fr-FR" dirty="0" err="1" smtClean="0"/>
                  <a:t>so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we</a:t>
                </a:r>
                <a:r>
                  <a:rPr lang="fr-FR" dirty="0" smtClean="0"/>
                  <a:t> use </a:t>
                </a:r>
                <a:r>
                  <a:rPr lang="fr-FR" dirty="0" err="1" smtClean="0"/>
                  <a:t>Arnoldi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with</a:t>
                </a:r>
                <a:r>
                  <a:rPr lang="fr-FR" dirty="0" smtClean="0"/>
                  <a:t> shift-</a:t>
                </a:r>
                <a:r>
                  <a:rPr lang="fr-FR" dirty="0" err="1" smtClean="0"/>
                  <a:t>invert</a:t>
                </a:r>
                <a:r>
                  <a:rPr lang="fr-FR" dirty="0" smtClean="0"/>
                  <a:t> transformation. </a:t>
                </a:r>
                <a:r>
                  <a:rPr lang="fr-FR" dirty="0" err="1" smtClean="0"/>
                  <a:t>Denote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fr-FR" dirty="0" smtClean="0"/>
                  <a:t> the shift</a:t>
                </a:r>
              </a:p>
              <a:p>
                <a:endParaRPr lang="fr-FR" dirty="0" smtClean="0"/>
              </a:p>
              <a:p>
                <a:endParaRPr lang="fr-FR" dirty="0"/>
              </a:p>
            </p:txBody>
          </p:sp>
        </mc:Choice>
        <mc:Fallback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0" y="365760"/>
                <a:ext cx="7592912" cy="2308324"/>
              </a:xfrm>
              <a:prstGeom prst="rect">
                <a:avLst/>
              </a:prstGeom>
              <a:blipFill>
                <a:blip r:embed="rId2"/>
                <a:stretch>
                  <a:fillRect l="-723" t="-13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/>
              <p:cNvSpPr txBox="1"/>
              <p:nvPr/>
            </p:nvSpPr>
            <p:spPr>
              <a:xfrm>
                <a:off x="4897120" y="1370330"/>
                <a:ext cx="1159420" cy="2991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𝑠𝑁𝑧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120" y="1370330"/>
                <a:ext cx="1159420" cy="299184"/>
              </a:xfrm>
              <a:prstGeom prst="rect">
                <a:avLst/>
              </a:prstGeom>
              <a:blipFill>
                <a:blip r:embed="rId3"/>
                <a:stretch>
                  <a:fillRect l="-4188" r="-4188" b="-204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/>
              <p:cNvSpPr txBox="1"/>
              <p:nvPr/>
            </p:nvSpPr>
            <p:spPr>
              <a:xfrm>
                <a:off x="2164080" y="2369962"/>
                <a:ext cx="8226034" cy="3041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𝑠𝑁𝑧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𝑁𝑧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⇔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𝑁𝑧</m:t>
                    </m:r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with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=1/(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080" y="2369962"/>
                <a:ext cx="8226034" cy="304122"/>
              </a:xfrm>
              <a:prstGeom prst="rect">
                <a:avLst/>
              </a:prstGeom>
              <a:blipFill>
                <a:blip r:embed="rId4"/>
                <a:stretch>
                  <a:fillRect l="-964" t="-24000" b="-38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/>
              <p:cNvSpPr txBox="1"/>
              <p:nvPr/>
            </p:nvSpPr>
            <p:spPr>
              <a:xfrm>
                <a:off x="741680" y="3007360"/>
                <a:ext cx="11165840" cy="972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We use shifts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fr-FR" dirty="0" smtClean="0"/>
                  <a:t> with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fr-FR" dirty="0" smtClean="0"/>
                  <a:t> and </a:t>
                </a:r>
                <a:r>
                  <a:rPr lang="fr-FR" dirty="0" err="1" smtClean="0"/>
                  <a:t>we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need</a:t>
                </a:r>
                <a:r>
                  <a:rPr lang="fr-FR" dirty="0" smtClean="0"/>
                  <a:t> to </a:t>
                </a:r>
                <a:r>
                  <a:rPr lang="fr-FR" dirty="0" err="1" smtClean="0"/>
                  <a:t>provide</a:t>
                </a:r>
                <a:r>
                  <a:rPr lang="fr-FR" dirty="0" smtClean="0"/>
                  <a:t> routines to </a:t>
                </a:r>
                <a:r>
                  <a:rPr lang="fr-FR" dirty="0" err="1" smtClean="0"/>
                  <a:t>perform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𝑁𝑧</m:t>
                    </m:r>
                  </m:oMath>
                </a14:m>
                <a:r>
                  <a:rPr lang="fr-FR" dirty="0" smtClean="0"/>
                  <a:t> and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↦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fr-FR" dirty="0" smtClean="0"/>
                  <a:t>, </a:t>
                </a:r>
                <a:r>
                  <a:rPr lang="fr-FR" dirty="0" err="1" smtClean="0"/>
                  <a:t>which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is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equivalent</a:t>
                </a:r>
                <a:r>
                  <a:rPr lang="fr-FR" dirty="0" smtClean="0"/>
                  <a:t> to </a:t>
                </a:r>
                <a:r>
                  <a:rPr lang="fr-FR" dirty="0" err="1" smtClean="0"/>
                  <a:t>solving</a:t>
                </a:r>
                <a:r>
                  <a:rPr lang="fr-FR" dirty="0" smtClean="0"/>
                  <a:t> the </a:t>
                </a:r>
                <a:r>
                  <a:rPr lang="fr-FR" dirty="0" err="1" smtClean="0"/>
                  <a:t>linear</a:t>
                </a:r>
                <a:r>
                  <a:rPr lang="fr-FR" dirty="0" smtClean="0"/>
                  <a:t> system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fr-FR" i="1" dirty="0" smtClean="0"/>
                  <a:t>. </a:t>
                </a:r>
                <a:r>
                  <a:rPr lang="fr-FR" dirty="0" err="1" smtClean="0"/>
                  <a:t>We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can</a:t>
                </a:r>
                <a:r>
                  <a:rPr lang="fr-FR" dirty="0" smtClean="0"/>
                  <a:t> use the </a:t>
                </a:r>
                <a:r>
                  <a:rPr lang="fr-FR" dirty="0" err="1" smtClean="0"/>
                  <a:t>sparse</a:t>
                </a:r>
                <a:r>
                  <a:rPr lang="fr-FR" dirty="0" smtClean="0"/>
                  <a:t> + </a:t>
                </a:r>
                <a:r>
                  <a:rPr lang="fr-FR" dirty="0" err="1" smtClean="0"/>
                  <a:t>low-rank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decomposition</a:t>
                </a:r>
                <a:r>
                  <a:rPr lang="fr-FR" dirty="0" smtClean="0"/>
                  <a:t> + MUMPS </a:t>
                </a:r>
                <a:r>
                  <a:rPr lang="fr-FR" dirty="0" err="1" smtClean="0"/>
                  <a:t>with</a:t>
                </a:r>
                <a:r>
                  <a:rPr lang="fr-FR" dirty="0" smtClean="0"/>
                  <a:t> LU </a:t>
                </a:r>
                <a:r>
                  <a:rPr lang="fr-FR" dirty="0" err="1" smtClean="0"/>
                  <a:t>decomposition</a:t>
                </a:r>
                <a:r>
                  <a:rPr lang="fr-FR" dirty="0" smtClean="0"/>
                  <a:t> to do </a:t>
                </a:r>
                <a:r>
                  <a:rPr lang="fr-FR" dirty="0" err="1" smtClean="0"/>
                  <a:t>this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quickly</a:t>
                </a:r>
                <a:r>
                  <a:rPr lang="fr-FR" dirty="0" smtClean="0"/>
                  <a:t>.</a:t>
                </a:r>
                <a:endParaRPr lang="fr-FR" dirty="0"/>
              </a:p>
            </p:txBody>
          </p:sp>
        </mc:Choice>
        <mc:Fallback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80" y="3007360"/>
                <a:ext cx="11165840" cy="972639"/>
              </a:xfrm>
              <a:prstGeom prst="rect">
                <a:avLst/>
              </a:prstGeom>
              <a:blipFill>
                <a:blip r:embed="rId5"/>
                <a:stretch>
                  <a:fillRect l="-492" t="-2500" b="-875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/>
          <p:cNvSpPr txBox="1"/>
          <p:nvPr/>
        </p:nvSpPr>
        <p:spPr>
          <a:xfrm>
            <a:off x="904241" y="4561840"/>
            <a:ext cx="10881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Do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need</a:t>
            </a:r>
            <a:r>
              <a:rPr lang="fr-FR" dirty="0" smtClean="0"/>
              <a:t> a spectral transformation </a:t>
            </a:r>
            <a:r>
              <a:rPr lang="fr-FR" dirty="0" err="1" smtClean="0"/>
              <a:t>here</a:t>
            </a:r>
            <a:r>
              <a:rPr lang="fr-FR" dirty="0" smtClean="0"/>
              <a:t> ? I </a:t>
            </a:r>
            <a:r>
              <a:rPr lang="fr-FR" dirty="0" err="1" smtClean="0"/>
              <a:t>am</a:t>
            </a:r>
            <a:r>
              <a:rPr lang="fr-FR" dirty="0" smtClean="0"/>
              <a:t> not sure... Check first </a:t>
            </a:r>
            <a:r>
              <a:rPr lang="fr-FR" dirty="0" err="1" smtClean="0"/>
              <a:t>before</a:t>
            </a:r>
            <a:r>
              <a:rPr lang="fr-FR" dirty="0" smtClean="0"/>
              <a:t> </a:t>
            </a:r>
            <a:r>
              <a:rPr lang="fr-FR" dirty="0" err="1" smtClean="0"/>
              <a:t>complicating</a:t>
            </a:r>
            <a:r>
              <a:rPr lang="fr-FR" dirty="0" smtClean="0"/>
              <a:t>. I do not use the </a:t>
            </a:r>
            <a:r>
              <a:rPr lang="fr-FR" dirty="0" err="1" smtClean="0"/>
              <a:t>same</a:t>
            </a:r>
            <a:r>
              <a:rPr lang="fr-FR" dirty="0" smtClean="0"/>
              <a:t> formulas as in </a:t>
            </a:r>
            <a:r>
              <a:rPr lang="fr-FR" dirty="0" err="1" smtClean="0"/>
              <a:t>Schwerdtner</a:t>
            </a:r>
            <a:r>
              <a:rPr lang="fr-FR" dirty="0" smtClean="0"/>
              <a:t> et </a:t>
            </a:r>
            <a:r>
              <a:rPr lang="fr-FR" dirty="0" err="1" smtClean="0"/>
              <a:t>al.’s</a:t>
            </a:r>
            <a:r>
              <a:rPr lang="fr-FR" dirty="0" smtClean="0"/>
              <a:t> </a:t>
            </a:r>
            <a:r>
              <a:rPr lang="fr-FR" dirty="0" err="1" smtClean="0"/>
              <a:t>paper</a:t>
            </a:r>
            <a:r>
              <a:rPr lang="fr-FR" dirty="0" smtClean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3486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/>
              <p:cNvSpPr txBox="1"/>
              <p:nvPr/>
            </p:nvSpPr>
            <p:spPr>
              <a:xfrm>
                <a:off x="629921" y="568960"/>
                <a:ext cx="1144016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Say </a:t>
                </a:r>
                <a:r>
                  <a:rPr lang="fr-FR" dirty="0" err="1" smtClean="0"/>
                  <a:t>we</a:t>
                </a:r>
                <a:r>
                  <a:rPr lang="fr-FR" dirty="0" smtClean="0"/>
                  <a:t> use the </a:t>
                </a:r>
                <a:r>
                  <a:rPr lang="fr-FR" dirty="0" err="1" smtClean="0"/>
                  <a:t>bisection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method</a:t>
                </a:r>
                <a:r>
                  <a:rPr lang="fr-FR" dirty="0" smtClean="0"/>
                  <a:t> of Boyd. </a:t>
                </a:r>
                <a:r>
                  <a:rPr lang="fr-FR" dirty="0" err="1" smtClean="0"/>
                  <a:t>Then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we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need</a:t>
                </a:r>
                <a:r>
                  <a:rPr lang="fr-FR" dirty="0" smtClean="0"/>
                  <a:t> to </a:t>
                </a:r>
                <a:r>
                  <a:rPr lang="fr-FR" dirty="0" err="1" smtClean="0"/>
                  <a:t>make</a:t>
                </a:r>
                <a:r>
                  <a:rPr lang="fr-FR" dirty="0" smtClean="0"/>
                  <a:t> sure </a:t>
                </a:r>
                <a:r>
                  <a:rPr lang="fr-FR" dirty="0" err="1" smtClean="0"/>
                  <a:t>we</a:t>
                </a:r>
                <a:r>
                  <a:rPr lang="fr-FR" dirty="0" smtClean="0"/>
                  <a:t> do not miss </a:t>
                </a:r>
                <a:r>
                  <a:rPr lang="fr-FR" dirty="0" err="1" smtClean="0"/>
                  <a:t>any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imaginary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eigenvalue</a:t>
                </a:r>
                <a:r>
                  <a:rPr lang="fr-FR" dirty="0"/>
                  <a:t> </a:t>
                </a:r>
                <a:r>
                  <a:rPr lang="fr-FR" dirty="0" smtClean="0"/>
                  <a:t>for </a:t>
                </a:r>
                <a:r>
                  <a:rPr lang="fr-FR" dirty="0" err="1" smtClean="0"/>
                  <a:t>any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given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fr-FR" dirty="0" smtClean="0"/>
                  <a:t> </a:t>
                </a:r>
              </a:p>
              <a:p>
                <a:endParaRPr lang="fr-FR" dirty="0">
                  <a:sym typeface="Wingdings" panose="05000000000000000000" pitchFamily="2" charset="2"/>
                </a:endParaRPr>
              </a:p>
              <a:p>
                <a:r>
                  <a:rPr lang="fr-FR" dirty="0" smtClean="0">
                    <a:sym typeface="Wingdings" panose="05000000000000000000" pitchFamily="2" charset="2"/>
                  </a:rPr>
                  <a:t> </a:t>
                </a:r>
                <a:r>
                  <a:rPr lang="fr-FR" dirty="0" smtClean="0"/>
                  <a:t>use </a:t>
                </a:r>
                <a:r>
                  <a:rPr lang="fr-FR" dirty="0" err="1" smtClean="0"/>
                  <a:t>idea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from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Schwerdtner’s</a:t>
                </a:r>
                <a:r>
                  <a:rPr lang="fr-FR" dirty="0"/>
                  <a:t> </a:t>
                </a:r>
                <a:r>
                  <a:rPr lang="fr-FR" dirty="0" err="1" smtClean="0"/>
                  <a:t>paper</a:t>
                </a:r>
                <a:r>
                  <a:rPr lang="fr-FR" dirty="0" smtClean="0"/>
                  <a:t>. </a:t>
                </a:r>
                <a:r>
                  <a:rPr lang="fr-FR" dirty="0" err="1" smtClean="0"/>
                  <a:t>Work</a:t>
                </a:r>
                <a:r>
                  <a:rPr lang="fr-FR" dirty="0" smtClean="0"/>
                  <a:t> on segment on the </a:t>
                </a:r>
                <a:r>
                  <a:rPr lang="fr-FR" dirty="0" err="1" smtClean="0"/>
                  <a:t>imaginary</a:t>
                </a:r>
                <a:r>
                  <a:rPr lang="fr-FR" dirty="0" smtClean="0"/>
                  <a:t> axis [0,b] </a:t>
                </a:r>
                <a:r>
                  <a:rPr lang="fr-FR" dirty="0" err="1" smtClean="0"/>
                  <a:t>where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we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decide</a:t>
                </a:r>
                <a:r>
                  <a:rPr lang="fr-FR" dirty="0" smtClean="0"/>
                  <a:t> b </a:t>
                </a:r>
                <a:r>
                  <a:rPr lang="fr-FR" dirty="0" err="1" smtClean="0"/>
                  <a:t>from</a:t>
                </a:r>
                <a:r>
                  <a:rPr lang="fr-FR" dirty="0" smtClean="0"/>
                  <a:t> the </a:t>
                </a:r>
                <a:r>
                  <a:rPr lang="fr-FR" dirty="0" err="1" smtClean="0"/>
                  <a:t>physics</a:t>
                </a:r>
                <a:r>
                  <a:rPr lang="fr-FR" dirty="0" smtClean="0"/>
                  <a:t>. No </a:t>
                </a:r>
                <a:r>
                  <a:rPr lang="fr-FR" dirty="0" err="1" smtClean="0"/>
                  <a:t>need</a:t>
                </a:r>
                <a:r>
                  <a:rPr lang="fr-FR" dirty="0" smtClean="0"/>
                  <a:t> to </a:t>
                </a:r>
                <a:r>
                  <a:rPr lang="fr-FR" dirty="0" err="1" smtClean="0"/>
                  <a:t>make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it</a:t>
                </a:r>
                <a:r>
                  <a:rPr lang="fr-FR" dirty="0" smtClean="0"/>
                  <a:t> more </a:t>
                </a:r>
                <a:r>
                  <a:rPr lang="fr-FR" dirty="0" err="1" smtClean="0"/>
                  <a:t>general</a:t>
                </a:r>
                <a:r>
                  <a:rPr lang="fr-FR" dirty="0" smtClean="0"/>
                  <a:t>. </a:t>
                </a:r>
                <a:r>
                  <a:rPr lang="fr-FR" dirty="0" err="1" smtClean="0"/>
                  <a:t>Take</a:t>
                </a:r>
                <a:r>
                  <a:rPr lang="fr-FR" dirty="0" smtClean="0"/>
                  <a:t> shift at the </a:t>
                </a:r>
                <a:r>
                  <a:rPr lang="fr-FR" dirty="0" err="1" smtClean="0"/>
                  <a:t>midpoint</a:t>
                </a:r>
                <a:r>
                  <a:rPr lang="fr-FR" dirty="0" smtClean="0"/>
                  <a:t> b/2 and </a:t>
                </a:r>
                <a:r>
                  <a:rPr lang="fr-FR" dirty="0" err="1" smtClean="0"/>
                  <a:t>determine</a:t>
                </a:r>
                <a:r>
                  <a:rPr lang="fr-FR" dirty="0" smtClean="0"/>
                  <a:t> distance r to </a:t>
                </a:r>
                <a:r>
                  <a:rPr lang="fr-FR" dirty="0" err="1" smtClean="0"/>
                  <a:t>closest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eigenvalue</a:t>
                </a:r>
                <a:r>
                  <a:rPr lang="fr-FR" dirty="0" smtClean="0"/>
                  <a:t>, etc. The </a:t>
                </a:r>
                <a:r>
                  <a:rPr lang="fr-FR" dirty="0" err="1" smtClean="0"/>
                  <a:t>algorithm</a:t>
                </a:r>
                <a:r>
                  <a:rPr lang="fr-FR" dirty="0" smtClean="0"/>
                  <a:t> stops </a:t>
                </a:r>
                <a:r>
                  <a:rPr lang="fr-FR" dirty="0" err="1" smtClean="0"/>
                  <a:t>when</a:t>
                </a:r>
                <a:r>
                  <a:rPr lang="fr-FR" dirty="0" smtClean="0"/>
                  <a:t> the union of all the </a:t>
                </a:r>
                <a:r>
                  <a:rPr lang="fr-FR" dirty="0" err="1" smtClean="0"/>
                  <a:t>disks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fully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contains</a:t>
                </a:r>
                <a:r>
                  <a:rPr lang="fr-FR" dirty="0" smtClean="0"/>
                  <a:t> the segment [0,b].</a:t>
                </a:r>
                <a:endParaRPr lang="fr-FR" dirty="0"/>
              </a:p>
            </p:txBody>
          </p:sp>
        </mc:Choice>
        <mc:Fallback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21" y="568960"/>
                <a:ext cx="11440160" cy="1754326"/>
              </a:xfrm>
              <a:prstGeom prst="rect">
                <a:avLst/>
              </a:prstGeom>
              <a:blipFill>
                <a:blip r:embed="rId2"/>
                <a:stretch>
                  <a:fillRect l="-426" t="-1736" r="-639" b="-45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60743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1948</Words>
  <Application>Microsoft Office PowerPoint</Application>
  <PresentationFormat>Grand écran</PresentationFormat>
  <Paragraphs>39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Onera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Colin Leclercq</dc:creator>
  <cp:lastModifiedBy>Colin Leclercq</cp:lastModifiedBy>
  <cp:revision>49</cp:revision>
  <dcterms:created xsi:type="dcterms:W3CDTF">2026-01-28T13:34:32Z</dcterms:created>
  <dcterms:modified xsi:type="dcterms:W3CDTF">2026-01-28T16:44:54Z</dcterms:modified>
</cp:coreProperties>
</file>